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13839825"/>
  <p:notesSz cx="1383982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 rot="480000">
            <a:off x="7620000" y="-571500"/>
            <a:ext cx="4953000" cy="4953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43000"/>
            <a:ext cx="285750" cy="285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52500" y="1214438"/>
            <a:ext cx="30852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12" kern="0" dirty="0">
                <a:solidFill>
                  <a:srgbClr val="8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GUIDELINES</a:t>
            </a:r>
            <a:endParaRPr lang="en-US" sz="975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0"/>
            <a:ext cx="5334000" cy="133915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3400" y="3872805"/>
            <a:ext cx="5866522" cy="3031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760" b="1" spc="-173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Chăm sóc thú cưng, </a:t>
            </a:r>
            <a:pPr algn="l" indent="0" marL="0">
              <a:lnSpc>
                <a:spcPct val="102000"/>
              </a:lnSpc>
              <a:buNone/>
            </a:pPr>
            <a:r>
              <a:rPr lang="en-US" sz="5760" i="1" spc="-173" kern="0" dirty="0">
                <a:solidFill>
                  <a:srgbClr val="3C5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tinh tế </a:t>
            </a:r>
            <a:pPr algn="l" indent="0" marL="0">
              <a:lnSpc>
                <a:spcPct val="102000"/>
              </a:lnSpc>
              <a:buNone/>
            </a:pPr>
            <a:r>
              <a:rPr lang="en-US" sz="5760" b="1" spc="-173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từng chi tiết.</a:t>
            </a:r>
            <a:endParaRPr lang="en-US" sz="5760" dirty="0"/>
          </a:p>
        </p:txBody>
      </p:sp>
      <p:sp>
        <p:nvSpPr>
          <p:cNvPr id="7" name="Text 2"/>
          <p:cNvSpPr/>
          <p:nvPr/>
        </p:nvSpPr>
        <p:spPr>
          <a:xfrm>
            <a:off x="533400" y="7133332"/>
            <a:ext cx="5636736" cy="960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42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nhận diện thương hiệu cho </a:t>
            </a:r>
            <a:pPr algn="l" indent="0" marL="0">
              <a:lnSpc>
                <a:spcPct val="170000"/>
              </a:lnSpc>
              <a:buNone/>
            </a:pPr>
            <a:r>
              <a:rPr lang="en-US" sz="1425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doca.pet </a:t>
            </a:r>
            <a:pPr algn="l" indent="0" marL="0">
              <a:lnSpc>
                <a:spcPct val="170000"/>
              </a:lnSpc>
              <a:buNone/>
            </a:pPr>
            <a:r>
              <a:rPr lang="en-US" sz="142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hệ thống logo, màu sắc, kiểu chữ, biểu tượng và ứng dụng thực tế. Mọi điểm chạm đều mang một tinh thần: sạch sẽ, ấm áp và cao cấp.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533400" y="8742015"/>
            <a:ext cx="11125200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9" name="Text 4"/>
          <p:cNvSpPr/>
          <p:nvPr/>
        </p:nvSpPr>
        <p:spPr>
          <a:xfrm>
            <a:off x="533400" y="9094440"/>
            <a:ext cx="14634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533400" y="9323040"/>
            <a:ext cx="14634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Chăm sóc thú cưng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320975" y="9094440"/>
            <a:ext cx="17702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CÁCH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320975" y="9323040"/>
            <a:ext cx="17702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giản · Cao cấp · Ấm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387453" y="9094440"/>
            <a:ext cx="8435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387453" y="9323040"/>
            <a:ext cx="8435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33400" y="9951690"/>
            <a:ext cx="5582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Logo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282154" y="9951690"/>
            <a:ext cx="7655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Màu sắc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238226" y="9951690"/>
            <a:ext cx="7956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Kiểu chữ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224361" y="9951690"/>
            <a:ext cx="9276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Biểu tượng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342507" y="9951690"/>
            <a:ext cx="7806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App Icon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313611" y="9951690"/>
            <a:ext cx="9880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Mạng xã hội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92180" y="9951690"/>
            <a:ext cx="11066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Icon &amp; Pattern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789366" y="9951690"/>
            <a:ext cx="8575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Ứng dụng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5331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439317" y="828675"/>
            <a:ext cx="10219283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09675"/>
            <a:ext cx="48247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chính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533400" y="1895475"/>
            <a:ext cx="5230203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gồm hai phần: </a:t>
            </a:r>
            <a:pPr algn="l" indent="0" marL="0">
              <a:lnSpc>
                <a:spcPct val="170000"/>
              </a:lnSpc>
              <a:buNone/>
            </a:pPr>
            <a:r>
              <a:rPr lang="en-US" sz="1275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 thú cưng cuộn tròn </a:t>
            </a:r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thành chữ “o”, và </a:t>
            </a:r>
            <a:pPr algn="l" indent="0" marL="0">
              <a:lnSpc>
                <a:spcPct val="170000"/>
              </a:lnSpc>
              <a:buNone/>
            </a:pPr>
            <a:r>
              <a:rPr lang="en-US" sz="1275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chữ doca.pet </a:t>
            </a:r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 tròn thân thiện. Luôn dùng trọn vẹn, không tách rời tỉ lệ.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33400" y="2807791"/>
            <a:ext cx="11125200" cy="2643039"/>
          </a:xfrm>
          <a:prstGeom prst="roundRect">
            <a:avLst>
              <a:gd name="adj" fmla="val 792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0" y="3579316"/>
            <a:ext cx="4381500" cy="109998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3400" y="5679430"/>
            <a:ext cx="6356300" cy="3355032"/>
          </a:xfrm>
          <a:prstGeom prst="roundRect">
            <a:avLst>
              <a:gd name="adj" fmla="val 6246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925" y="6069955"/>
            <a:ext cx="61327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TRỐNG AN TOÀN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23925" y="6450955"/>
            <a:ext cx="2838450" cy="1269057"/>
          </a:xfrm>
          <a:prstGeom prst="roundRect">
            <a:avLst>
              <a:gd name="adj" fmla="val 9007"/>
            </a:avLst>
          </a:prstGeom>
          <a:solidFill>
            <a:srgbClr val="FFFFFF"/>
          </a:solidFill>
          <a:ln w="9525">
            <a:solidFill>
              <a:srgbClr val="C9D9B4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009650" y="6536680"/>
            <a:ext cx="1285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822430"/>
            <a:ext cx="2095500" cy="52610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3925" y="7958138"/>
            <a:ext cx="3461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khoảng trống tối thiểu bằng chiều cao của biểu tượng thú cưng ( </a:t>
            </a:r>
            <a:pPr algn="l" indent="0" marL="0">
              <a:lnSpc>
                <a:spcPct val="160000"/>
              </a:lnSpc>
              <a:buNone/>
            </a:pPr>
            <a:r>
              <a:rPr lang="en-US" sz="1125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quanh logo. Không đặt chữ hay hình khác trong vùng này.</a:t>
            </a:r>
            <a:endParaRPr lang="en-US" sz="1125" dirty="0"/>
          </a:p>
        </p:txBody>
      </p:sp>
      <p:sp>
        <p:nvSpPr>
          <p:cNvPr id="15" name="Shape 11"/>
          <p:cNvSpPr/>
          <p:nvPr/>
        </p:nvSpPr>
        <p:spPr>
          <a:xfrm>
            <a:off x="7118300" y="5679430"/>
            <a:ext cx="4540151" cy="3355032"/>
          </a:xfrm>
          <a:prstGeom prst="roundRect">
            <a:avLst>
              <a:gd name="adj" fmla="val 6246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08825" y="6069955"/>
            <a:ext cx="41350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THƯỚC TỐI THIỂU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825" y="7304187"/>
            <a:ext cx="1428750" cy="3586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37388" y="7843838"/>
            <a:ext cx="15716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· 24mm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4021" y="7319963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42375" y="7843838"/>
            <a:ext cx="966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tượng · 16px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508825" y="8186738"/>
            <a:ext cx="387187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Dưới các ngưỡng này, dùng riêng biểu tượng để giữ độ rõ nét.</a:t>
            </a:r>
            <a:endParaRPr lang="en-US" sz="1125" dirty="0"/>
          </a:p>
        </p:txBody>
      </p:sp>
      <p:sp>
        <p:nvSpPr>
          <p:cNvPr id="22" name="Shape 16"/>
          <p:cNvSpPr/>
          <p:nvPr/>
        </p:nvSpPr>
        <p:spPr>
          <a:xfrm>
            <a:off x="533400" y="9186863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F4F1E9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65" y="9644063"/>
            <a:ext cx="2048470" cy="51420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52800" y="9186863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15170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065" y="9644063"/>
            <a:ext cx="2048470" cy="514201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172200" y="9186863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76C123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1465" y="9644063"/>
            <a:ext cx="2048470" cy="51420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8991600" y="9186863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0865" y="9644063"/>
            <a:ext cx="2048470" cy="51420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3400" y="11149013"/>
            <a:ext cx="12237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điều cần tránh</a:t>
            </a:r>
            <a:endParaRPr lang="en-US" sz="1650" dirty="0"/>
          </a:p>
        </p:txBody>
      </p:sp>
      <p:sp>
        <p:nvSpPr>
          <p:cNvPr id="31" name="Shape 21"/>
          <p:cNvSpPr/>
          <p:nvPr/>
        </p:nvSpPr>
        <p:spPr>
          <a:xfrm>
            <a:off x="533400" y="11587163"/>
            <a:ext cx="2667000" cy="1581150"/>
          </a:xfrm>
          <a:prstGeom prst="roundRect">
            <a:avLst>
              <a:gd name="adj" fmla="val 10843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542925" y="11596688"/>
            <a:ext cx="2647950" cy="1143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455" y="11849100"/>
            <a:ext cx="1588740" cy="638175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542925" y="12739688"/>
            <a:ext cx="2647950" cy="9525"/>
          </a:xfrm>
          <a:prstGeom prst="rect">
            <a:avLst/>
          </a:prstGeom>
          <a:solidFill>
            <a:srgbClr val="ECE7DA"/>
          </a:solidFill>
          <a:ln/>
        </p:spPr>
      </p:sp>
      <p:sp>
        <p:nvSpPr>
          <p:cNvPr id="35" name="Text 24"/>
          <p:cNvSpPr/>
          <p:nvPr/>
        </p:nvSpPr>
        <p:spPr>
          <a:xfrm>
            <a:off x="695325" y="12882563"/>
            <a:ext cx="2422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4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Bóp méo tỉ lệ</a:t>
            </a:r>
            <a:endParaRPr lang="en-US" sz="975" dirty="0"/>
          </a:p>
        </p:txBody>
      </p:sp>
      <p:sp>
        <p:nvSpPr>
          <p:cNvPr id="36" name="Shape 25"/>
          <p:cNvSpPr/>
          <p:nvPr/>
        </p:nvSpPr>
        <p:spPr>
          <a:xfrm>
            <a:off x="3352800" y="11587163"/>
            <a:ext cx="2667000" cy="1581150"/>
          </a:xfrm>
          <a:prstGeom prst="roundRect">
            <a:avLst>
              <a:gd name="adj" fmla="val 10843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3362325" y="11596688"/>
            <a:ext cx="2647950" cy="1143000"/>
          </a:xfrm>
          <a:prstGeom prst="rect">
            <a:avLst/>
          </a:prstGeom>
          <a:gradFill rotWithShape="1">
            <a:gsLst>
              <a:gs pos="0">
                <a:srgbClr val="FF8A00">
                  <a:alpha val="100000"/>
                </a:srgbClr>
              </a:gs>
              <a:gs pos="100000">
                <a:srgbClr val="E52E71">
                  <a:alpha val="100000"/>
                </a:srgbClr>
              </a:gs>
            </a:gsLst>
            <a:lin ang="1800000" scaled="0"/>
          </a:gra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5364" y="11962061"/>
            <a:ext cx="1641723" cy="412105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3362325" y="12739688"/>
            <a:ext cx="2647950" cy="9525"/>
          </a:xfrm>
          <a:prstGeom prst="rect">
            <a:avLst/>
          </a:prstGeom>
          <a:solidFill>
            <a:srgbClr val="ECE7DA"/>
          </a:solidFill>
          <a:ln/>
        </p:spPr>
      </p:sp>
      <p:sp>
        <p:nvSpPr>
          <p:cNvPr id="40" name="Text 28"/>
          <p:cNvSpPr/>
          <p:nvPr/>
        </p:nvSpPr>
        <p:spPr>
          <a:xfrm>
            <a:off x="3514725" y="12882563"/>
            <a:ext cx="2422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4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Nền rối, tương phản kém</a:t>
            </a:r>
            <a:endParaRPr lang="en-US" sz="975" dirty="0"/>
          </a:p>
        </p:txBody>
      </p:sp>
      <p:sp>
        <p:nvSpPr>
          <p:cNvPr id="41" name="Shape 29"/>
          <p:cNvSpPr/>
          <p:nvPr/>
        </p:nvSpPr>
        <p:spPr>
          <a:xfrm>
            <a:off x="6172200" y="11587163"/>
            <a:ext cx="2667000" cy="1581150"/>
          </a:xfrm>
          <a:prstGeom prst="roundRect">
            <a:avLst>
              <a:gd name="adj" fmla="val 10843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6181725" y="11596688"/>
            <a:ext cx="2647950" cy="1143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4764" y="11962061"/>
            <a:ext cx="1641723" cy="412105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6181725" y="12739688"/>
            <a:ext cx="2647950" cy="9525"/>
          </a:xfrm>
          <a:prstGeom prst="rect">
            <a:avLst/>
          </a:prstGeom>
          <a:solidFill>
            <a:srgbClr val="ECE7DA"/>
          </a:solidFill>
          <a:ln/>
        </p:spPr>
      </p:sp>
      <p:sp>
        <p:nvSpPr>
          <p:cNvPr id="45" name="Text 32"/>
          <p:cNvSpPr/>
          <p:nvPr/>
        </p:nvSpPr>
        <p:spPr>
          <a:xfrm>
            <a:off x="6334125" y="12882563"/>
            <a:ext cx="2422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4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Đổi màu tùy tiện</a:t>
            </a:r>
            <a:endParaRPr lang="en-US" sz="975" dirty="0"/>
          </a:p>
        </p:txBody>
      </p:sp>
      <p:sp>
        <p:nvSpPr>
          <p:cNvPr id="46" name="Shape 33"/>
          <p:cNvSpPr/>
          <p:nvPr/>
        </p:nvSpPr>
        <p:spPr>
          <a:xfrm>
            <a:off x="8991600" y="11587163"/>
            <a:ext cx="2667000" cy="1581150"/>
          </a:xfrm>
          <a:prstGeom prst="roundRect">
            <a:avLst>
              <a:gd name="adj" fmla="val 10843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9001125" y="11596688"/>
            <a:ext cx="2647950" cy="1143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0320" y="11977688"/>
            <a:ext cx="381000" cy="381000"/>
          </a:xfrm>
          <a:prstGeom prst="rect">
            <a:avLst/>
          </a:prstGeom>
        </p:spPr>
      </p:pic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9767" y="12021994"/>
            <a:ext cx="1164966" cy="292388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9001125" y="12739688"/>
            <a:ext cx="2647950" cy="9525"/>
          </a:xfrm>
          <a:prstGeom prst="rect">
            <a:avLst/>
          </a:prstGeom>
          <a:solidFill>
            <a:srgbClr val="ECE7DA"/>
          </a:solidFill>
          <a:ln/>
        </p:spPr>
      </p:sp>
      <p:sp>
        <p:nvSpPr>
          <p:cNvPr id="51" name="Text 36"/>
          <p:cNvSpPr/>
          <p:nvPr/>
        </p:nvSpPr>
        <p:spPr>
          <a:xfrm>
            <a:off x="9153525" y="12882563"/>
            <a:ext cx="24225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4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Sắp xếp lại bố cục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8137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SẮC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720007" y="828675"/>
            <a:ext cx="9938593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09675"/>
            <a:ext cx="122377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màu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533400" y="1895475"/>
            <a:ext cx="5230203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Xanh </a:t>
            </a:r>
            <a:pPr algn="l" indent="0" marL="0">
              <a:lnSpc>
                <a:spcPct val="170000"/>
              </a:lnSpc>
              <a:buNone/>
            </a:pPr>
            <a:r>
              <a:rPr lang="en-US" sz="1275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Sprout </a:t>
            </a:r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điểm nhấn duy nhất — dùng tiết chế trên nền giấy ấm và mực than để giữ cảm giác cao cấp.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33400" y="2798266"/>
            <a:ext cx="6201966" cy="2190750"/>
          </a:xfrm>
          <a:prstGeom prst="roundRect">
            <a:avLst>
              <a:gd name="adj" fmla="val 9565"/>
            </a:avLst>
          </a:prstGeom>
          <a:solidFill>
            <a:srgbClr val="76C123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" y="3103066"/>
            <a:ext cx="615160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38200" y="4122241"/>
            <a:ext cx="61516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Sprout Green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38200" y="4512766"/>
            <a:ext cx="63683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#76C123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27436" y="4512766"/>
            <a:ext cx="10514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118·193·35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87766" y="2798266"/>
            <a:ext cx="4770834" cy="2190750"/>
          </a:xfrm>
          <a:prstGeom prst="roundRect">
            <a:avLst>
              <a:gd name="adj" fmla="val 9565"/>
            </a:avLst>
          </a:prstGeom>
          <a:solidFill>
            <a:srgbClr val="15170F"/>
          </a:solidFill>
          <a:ln/>
        </p:spPr>
      </p:sp>
      <p:sp>
        <p:nvSpPr>
          <p:cNvPr id="13" name="Text 11"/>
          <p:cNvSpPr/>
          <p:nvPr/>
        </p:nvSpPr>
        <p:spPr>
          <a:xfrm>
            <a:off x="7192566" y="3103066"/>
            <a:ext cx="45773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4F1E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192566" y="4122241"/>
            <a:ext cx="45773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192566" y="4512766"/>
            <a:ext cx="6176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#15170F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2602" y="4512766"/>
            <a:ext cx="9021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21·23·15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400" y="5141416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3C5E16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970091"/>
            <a:ext cx="2430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000" y="6179641"/>
            <a:ext cx="24307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#3C5E16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3352800" y="5141416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F4F1E9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0925" y="5960566"/>
            <a:ext cx="2409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90925" y="6170116"/>
            <a:ext cx="240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#F4F1E9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172200" y="5141416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E8E3D6"/>
          </a:solidFill>
          <a:ln w="9525">
            <a:solidFill>
              <a:srgbClr val="E0DA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0325" y="5960566"/>
            <a:ext cx="2409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0325" y="6170116"/>
            <a:ext cx="240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#E8E3D6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8991600" y="5141416"/>
            <a:ext cx="2667000" cy="142875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9725" y="5960566"/>
            <a:ext cx="2409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29725" y="6170116"/>
            <a:ext cx="240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#FBFAF6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8824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KIỂU CHỮ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788616" y="828675"/>
            <a:ext cx="9869984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09675"/>
            <a:ext cx="122377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chữ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533400" y="2066925"/>
            <a:ext cx="5486400" cy="3127772"/>
          </a:xfrm>
          <a:prstGeom prst="roundRect">
            <a:avLst>
              <a:gd name="adj" fmla="val 6700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925" y="2457450"/>
            <a:ext cx="6478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ĐỀ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17541" y="2457450"/>
            <a:ext cx="10879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Schibsted Grotesk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23925" y="2876550"/>
            <a:ext cx="517588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923925" y="3886200"/>
            <a:ext cx="51758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Thú cưng hạnh phúc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23925" y="4371975"/>
            <a:ext cx="4846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ABCDEFGHIJKLMNOPQRSTUVWXYZ abcdefghijklmnopqrstuvwxyz 0123456789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066925"/>
            <a:ext cx="5486400" cy="3127772"/>
          </a:xfrm>
          <a:prstGeom prst="roundRect">
            <a:avLst>
              <a:gd name="adj" fmla="val 6700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2725" y="2457450"/>
            <a:ext cx="7935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73320" y="2457450"/>
            <a:ext cx="9709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Hanken Grotesk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562725" y="2876550"/>
            <a:ext cx="517588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6562725" y="3886200"/>
            <a:ext cx="3516081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Văn bản thân thiện, dễ đọc cho website, ứng dụng và bao bì. Dùng cân nặng 400–600.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2725" y="4632722"/>
            <a:ext cx="51758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ABCDEFGHIJKLM nopqrstuvwxyz 0123456789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3400" y="5347097"/>
            <a:ext cx="11125200" cy="2838450"/>
          </a:xfrm>
          <a:prstGeom prst="roundRect">
            <a:avLst>
              <a:gd name="adj" fmla="val 7383"/>
            </a:avLst>
          </a:prstGeom>
          <a:solidFill>
            <a:srgbClr val="15170F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5842397"/>
            <a:ext cx="21649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GIỌNG ĐIỆU — SERIF NHẤN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600" y="6175772"/>
            <a:ext cx="739914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840" i="1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“Mỗi chú thú cưng xứng đáng được nâng niu một cách tinh tế.”</a:t>
            </a:r>
            <a:endParaRPr lang="en-US" sz="3840" dirty="0"/>
          </a:p>
        </p:txBody>
      </p:sp>
      <p:sp>
        <p:nvSpPr>
          <p:cNvPr id="21" name="Text 19"/>
          <p:cNvSpPr/>
          <p:nvPr/>
        </p:nvSpPr>
        <p:spPr>
          <a:xfrm>
            <a:off x="990600" y="7566422"/>
            <a:ext cx="112318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Serif Italic — chỉ dùng cho trích dẫn &amp; điểm nhấn cảm xúc.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111844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TƯỢNG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2024658" y="828675"/>
            <a:ext cx="9633942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209675"/>
            <a:ext cx="5486400" cy="3096667"/>
          </a:xfrm>
          <a:prstGeom prst="roundRect">
            <a:avLst>
              <a:gd name="adj" fmla="val 6767"/>
            </a:avLst>
          </a:prstGeom>
          <a:solidFill>
            <a:srgbClr val="76C1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7792" y="1819275"/>
            <a:ext cx="1877467" cy="18774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62700" y="1616571"/>
            <a:ext cx="5615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tượng thú cưng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362700" y="2197596"/>
            <a:ext cx="5258562" cy="863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tượng là chú thú cưng cuộn tròn — thân tạo thành chữ “O”, đầu nghiêng với đôi tai đặc trưng. Dùng độc lập làm avatar, app icon, con dấu và watermark.</a:t>
            </a:r>
            <a:endParaRPr lang="en-US" sz="1275" dirty="0"/>
          </a:p>
        </p:txBody>
      </p:sp>
      <p:sp>
        <p:nvSpPr>
          <p:cNvPr id="9" name="Shape 6"/>
          <p:cNvSpPr/>
          <p:nvPr/>
        </p:nvSpPr>
        <p:spPr>
          <a:xfrm>
            <a:off x="6362700" y="328984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4F1E9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909" y="3441055"/>
            <a:ext cx="307032" cy="307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086600" y="328984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5170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898" y="3436144"/>
            <a:ext cx="316855" cy="31685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810500" y="328984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76C12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798" y="3436144"/>
            <a:ext cx="316855" cy="31685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534400" y="328984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5609" y="3441055"/>
            <a:ext cx="307032" cy="307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8639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ICON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770162" y="828675"/>
            <a:ext cx="9888438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09675"/>
            <a:ext cx="122377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tượng ứng dụng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533400" y="2105025"/>
            <a:ext cx="1676400" cy="1676400"/>
          </a:xfrm>
          <a:prstGeom prst="roundRect">
            <a:avLst>
              <a:gd name="adj" fmla="val 22727"/>
            </a:avLst>
          </a:prstGeom>
          <a:solidFill>
            <a:srgbClr val="76C123"/>
          </a:solidFill>
          <a:ln/>
          <a:effectLst>
            <a:outerShdw sx="100000" sy="100000" kx="0" ky="0" algn="bl" rotWithShape="0" blurRad="381000" dist="190500" dir="5400000">
              <a:srgbClr val="3C5E16">
                <a:alpha val="5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524125"/>
            <a:ext cx="838200" cy="838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9580" y="3933825"/>
            <a:ext cx="18440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· Primary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2590800" y="2447925"/>
            <a:ext cx="1333500" cy="1333500"/>
          </a:xfrm>
          <a:prstGeom prst="roundRect">
            <a:avLst>
              <a:gd name="adj" fmla="val 22857"/>
            </a:avLst>
          </a:prstGeom>
          <a:solidFill>
            <a:srgbClr val="15170F"/>
          </a:solidFill>
          <a:ln/>
          <a:effectLst>
            <a:outerShdw sx="100000" sy="100000" kx="0" ky="0" algn="bl" rotWithShape="0" blurRad="381000" dist="190500" dir="54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2781300"/>
            <a:ext cx="666750" cy="666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24125" y="3933825"/>
            <a:ext cx="14668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975" dirty="0"/>
          </a:p>
        </p:txBody>
      </p:sp>
      <p:sp>
        <p:nvSpPr>
          <p:cNvPr id="12" name="Shape 8"/>
          <p:cNvSpPr/>
          <p:nvPr/>
        </p:nvSpPr>
        <p:spPr>
          <a:xfrm>
            <a:off x="4305300" y="2447925"/>
            <a:ext cx="1333500" cy="1333500"/>
          </a:xfrm>
          <a:prstGeom prst="roundRect">
            <a:avLst>
              <a:gd name="adj" fmla="val 22857"/>
            </a:avLst>
          </a:prstGeom>
          <a:solidFill>
            <a:srgbClr val="F4F1E9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2786063"/>
            <a:ext cx="657225" cy="6572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38625" y="3933825"/>
            <a:ext cx="14668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975" dirty="0"/>
          </a:p>
        </p:txBody>
      </p:sp>
      <p:sp>
        <p:nvSpPr>
          <p:cNvPr id="15" name="Shape 10"/>
          <p:cNvSpPr/>
          <p:nvPr/>
        </p:nvSpPr>
        <p:spPr>
          <a:xfrm>
            <a:off x="6019800" y="2752725"/>
            <a:ext cx="1028700" cy="1028700"/>
          </a:xfrm>
          <a:prstGeom prst="ellipse">
            <a:avLst/>
          </a:prstGeom>
          <a:solidFill>
            <a:srgbClr val="76C1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3009900"/>
            <a:ext cx="514350" cy="5143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81700" y="3933825"/>
            <a:ext cx="1104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Tròn</a:t>
            </a:r>
            <a:endParaRPr lang="en-US" sz="975" dirty="0"/>
          </a:p>
        </p:txBody>
      </p:sp>
      <p:sp>
        <p:nvSpPr>
          <p:cNvPr id="18" name="Shape 12"/>
          <p:cNvSpPr/>
          <p:nvPr/>
        </p:nvSpPr>
        <p:spPr>
          <a:xfrm>
            <a:off x="7429500" y="2943225"/>
            <a:ext cx="838200" cy="838200"/>
          </a:xfrm>
          <a:prstGeom prst="roundRect">
            <a:avLst>
              <a:gd name="adj" fmla="val 25000"/>
            </a:avLst>
          </a:prstGeom>
          <a:solidFill>
            <a:srgbClr val="76C12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050" y="3152775"/>
            <a:ext cx="419100" cy="4191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91400" y="3933825"/>
            <a:ext cx="9144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@2x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11742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 XÃ HỘI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2080468" y="828675"/>
            <a:ext cx="9578132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09675"/>
            <a:ext cx="122377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&amp; ảnh bìa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533400" y="2066925"/>
            <a:ext cx="11125200" cy="3527375"/>
          </a:xfrm>
          <a:prstGeom prst="roundRect">
            <a:avLst>
              <a:gd name="adj" fmla="val 5941"/>
            </a:avLst>
          </a:prstGeom>
          <a:solidFill>
            <a:srgbClr val="1517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533400" y="2066925"/>
            <a:ext cx="11125200" cy="352737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rcRect l="0" r="0" t="0" b="0"/>
          <a:stretch/>
        </p:blipFill>
        <p:spPr>
          <a:xfrm>
            <a:off x="6986141" y="1008757"/>
            <a:ext cx="5117455" cy="511745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92" y="3163788"/>
            <a:ext cx="3110657" cy="7810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3392" y="4163913"/>
            <a:ext cx="55710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FFFFF">
                    <a:alpha val="9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Chăm sóc thú cưng, tinh tế từng chi tiết.</a:t>
            </a:r>
            <a:endParaRPr lang="en-US" sz="2250" dirty="0"/>
          </a:p>
        </p:txBody>
      </p:sp>
      <p:sp>
        <p:nvSpPr>
          <p:cNvPr id="11" name="Shape 6"/>
          <p:cNvSpPr/>
          <p:nvPr/>
        </p:nvSpPr>
        <p:spPr>
          <a:xfrm>
            <a:off x="533400" y="5861000"/>
            <a:ext cx="990600" cy="990600"/>
          </a:xfrm>
          <a:prstGeom prst="ellipse">
            <a:avLst/>
          </a:prstGeom>
          <a:solidFill>
            <a:srgbClr val="76C123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1" y="6118622"/>
            <a:ext cx="475357" cy="4753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5450" y="6161038"/>
            <a:ext cx="13642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doca.pet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695450" y="6380113"/>
            <a:ext cx="13642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@doca.pet · Pet care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240435" y="5975300"/>
            <a:ext cx="762000" cy="762000"/>
          </a:xfrm>
          <a:prstGeom prst="ellipse">
            <a:avLst/>
          </a:prstGeom>
          <a:solidFill>
            <a:srgbClr val="15170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345" y="6158210"/>
            <a:ext cx="396180" cy="39618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135785" y="5975300"/>
            <a:ext cx="762000" cy="762000"/>
          </a:xfrm>
          <a:prstGeom prst="ellipse">
            <a:avLst/>
          </a:prstGeom>
          <a:solidFill>
            <a:srgbClr val="F4F1E9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606" y="6163121"/>
            <a:ext cx="386209" cy="386209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031135" y="597530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8956" y="6163121"/>
            <a:ext cx="386209" cy="3862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15040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&amp; PATTERN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2349698" y="828675"/>
            <a:ext cx="9308902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09675"/>
            <a:ext cx="122377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icon &amp; hoa văn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533400" y="1895475"/>
            <a:ext cx="5230203" cy="588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icon nét mảnh, bo tròn — đồng nhất với chữ logo. Stroke 1.7, góc bo, lưới 24px.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33400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8459" y="3263801"/>
            <a:ext cx="323850" cy="3238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40719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5778" y="3263801"/>
            <a:ext cx="323850" cy="323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48038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3097" y="3263801"/>
            <a:ext cx="323850" cy="3238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55356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0416" y="3263801"/>
            <a:ext cx="323850" cy="3238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162675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37734" y="3263801"/>
            <a:ext cx="323850" cy="3238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569994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5053" y="3263801"/>
            <a:ext cx="323850" cy="3238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8977313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FBFAF6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52372" y="3263801"/>
            <a:ext cx="323850" cy="32385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384631" y="2788741"/>
            <a:ext cx="1273969" cy="1273969"/>
          </a:xfrm>
          <a:prstGeom prst="roundRect">
            <a:avLst>
              <a:gd name="adj" fmla="val 13458"/>
            </a:avLst>
          </a:prstGeom>
          <a:solidFill>
            <a:srgbClr val="76C123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59691" y="3263801"/>
            <a:ext cx="323850" cy="32385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33400" y="4215110"/>
            <a:ext cx="5486400" cy="2286000"/>
          </a:xfrm>
          <a:prstGeom prst="roundRect">
            <a:avLst>
              <a:gd name="adj" fmla="val 9167"/>
            </a:avLst>
          </a:prstGeom>
          <a:solidFill>
            <a:srgbClr val="F4F1E9"/>
          </a:solidFill>
          <a:ln w="9525">
            <a:solidFill>
              <a:srgbClr val="ECE7DA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7">
            <a:alphaModFix amt="5000"/>
          </a:blip>
          <a:stretch>
            <a:fillRect/>
          </a:stretch>
        </p:blipFill>
        <p:spPr>
          <a:xfrm>
            <a:off x="542925" y="4224635"/>
            <a:ext cx="5467350" cy="226695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33425" y="6177260"/>
            <a:ext cx="95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 nhạt</a:t>
            </a:r>
            <a:endParaRPr lang="en-US" sz="975" dirty="0"/>
          </a:p>
        </p:txBody>
      </p:sp>
      <p:sp>
        <p:nvSpPr>
          <p:cNvPr id="26" name="Shape 15"/>
          <p:cNvSpPr/>
          <p:nvPr/>
        </p:nvSpPr>
        <p:spPr>
          <a:xfrm>
            <a:off x="6172200" y="4215110"/>
            <a:ext cx="5486400" cy="2286000"/>
          </a:xfrm>
          <a:prstGeom prst="roundRect">
            <a:avLst>
              <a:gd name="adj" fmla="val 9167"/>
            </a:avLst>
          </a:prstGeom>
          <a:solidFill>
            <a:srgbClr val="15170F"/>
          </a:solidFill>
          <a:ln/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8">
            <a:alphaModFix amt="20000"/>
          </a:blip>
          <a:stretch>
            <a:fillRect/>
          </a:stretch>
        </p:blipFill>
        <p:spPr>
          <a:xfrm rot="-720001">
            <a:off x="5349245" y="3872212"/>
            <a:ext cx="7132310" cy="297179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362700" y="6186785"/>
            <a:ext cx="10880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6C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điểm nhấn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62000"/>
            <a:ext cx="258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3C5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49064" y="762000"/>
            <a:ext cx="9648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871067" y="828675"/>
            <a:ext cx="9787533" cy="9525"/>
          </a:xfrm>
          <a:prstGeom prst="rect">
            <a:avLst/>
          </a:prstGeom>
          <a:solidFill>
            <a:srgbClr val="E2DCCD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09675"/>
            <a:ext cx="122377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thực tế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533400" y="2066925"/>
            <a:ext cx="5486400" cy="3619500"/>
          </a:xfrm>
          <a:prstGeom prst="roundRect">
            <a:avLst>
              <a:gd name="adj" fmla="val 5789"/>
            </a:avLst>
          </a:prstGeom>
          <a:solidFill>
            <a:srgbClr val="E8E3D6"/>
          </a:solidFill>
          <a:ln/>
        </p:spPr>
      </p:sp>
      <p:sp>
        <p:nvSpPr>
          <p:cNvPr id="7" name="Shape 5"/>
          <p:cNvSpPr/>
          <p:nvPr/>
        </p:nvSpPr>
        <p:spPr>
          <a:xfrm>
            <a:off x="2638425" y="2276475"/>
            <a:ext cx="438150" cy="85725"/>
          </a:xfrm>
          <a:prstGeom prst="rect">
            <a:avLst/>
          </a:prstGeom>
          <a:solidFill>
            <a:srgbClr val="15170F"/>
          </a:solidFill>
          <a:ln/>
        </p:spPr>
      </p:sp>
      <p:sp>
        <p:nvSpPr>
          <p:cNvPr id="8" name="Shape 6"/>
          <p:cNvSpPr/>
          <p:nvPr/>
        </p:nvSpPr>
        <p:spPr>
          <a:xfrm>
            <a:off x="2638425" y="2276475"/>
            <a:ext cx="85725" cy="571500"/>
          </a:xfrm>
          <a:prstGeom prst="rect">
            <a:avLst/>
          </a:prstGeom>
          <a:solidFill>
            <a:srgbClr val="15170F"/>
          </a:solidFill>
          <a:ln/>
        </p:spPr>
      </p:sp>
      <p:sp>
        <p:nvSpPr>
          <p:cNvPr id="9" name="Shape 7"/>
          <p:cNvSpPr/>
          <p:nvPr/>
        </p:nvSpPr>
        <p:spPr>
          <a:xfrm>
            <a:off x="2990850" y="2276475"/>
            <a:ext cx="85725" cy="571500"/>
          </a:xfrm>
          <a:prstGeom prst="rect">
            <a:avLst/>
          </a:prstGeom>
          <a:solidFill>
            <a:srgbClr val="15170F"/>
          </a:solidFill>
          <a:ln/>
        </p:spPr>
      </p:sp>
      <p:sp>
        <p:nvSpPr>
          <p:cNvPr id="10" name="Shape 8"/>
          <p:cNvSpPr/>
          <p:nvPr/>
        </p:nvSpPr>
        <p:spPr>
          <a:xfrm>
            <a:off x="3476625" y="2276475"/>
            <a:ext cx="438150" cy="85725"/>
          </a:xfrm>
          <a:prstGeom prst="rect">
            <a:avLst/>
          </a:prstGeom>
          <a:solidFill>
            <a:srgbClr val="15170F"/>
          </a:solidFill>
          <a:ln/>
        </p:spPr>
      </p:sp>
      <p:sp>
        <p:nvSpPr>
          <p:cNvPr id="11" name="Shape 9"/>
          <p:cNvSpPr/>
          <p:nvPr/>
        </p:nvSpPr>
        <p:spPr>
          <a:xfrm>
            <a:off x="3476625" y="2276475"/>
            <a:ext cx="85725" cy="571500"/>
          </a:xfrm>
          <a:prstGeom prst="rect">
            <a:avLst/>
          </a:prstGeom>
          <a:solidFill>
            <a:srgbClr val="15170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29050" y="2276475"/>
            <a:ext cx="85725" cy="571500"/>
          </a:xfrm>
          <a:prstGeom prst="rect">
            <a:avLst/>
          </a:prstGeom>
          <a:solidFill>
            <a:srgbClr val="15170F"/>
          </a:solidFill>
          <a:ln/>
        </p:spPr>
      </p:sp>
      <p:sp>
        <p:nvSpPr>
          <p:cNvPr id="13" name="Shape 11"/>
          <p:cNvSpPr/>
          <p:nvPr/>
        </p:nvSpPr>
        <p:spPr>
          <a:xfrm>
            <a:off x="2276475" y="2695575"/>
            <a:ext cx="2000250" cy="2362200"/>
          </a:xfrm>
          <a:prstGeom prst="roundRect">
            <a:avLst>
              <a:gd name="adj" fmla="val 2857"/>
            </a:avLst>
          </a:prstGeom>
          <a:solidFill>
            <a:srgbClr val="F4F1E9"/>
          </a:solidFill>
          <a:ln/>
          <a:effectLst>
            <a:outerShdw sx="100000" sy="100000" kx="0" ky="0" algn="bl" rotWithShape="0" blurRad="381000" dist="2286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0" y="3304580"/>
            <a:ext cx="685800" cy="68580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4161830"/>
            <a:ext cx="1143000" cy="28694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72200" y="2066925"/>
            <a:ext cx="5486400" cy="3619500"/>
          </a:xfrm>
          <a:prstGeom prst="roundRect">
            <a:avLst>
              <a:gd name="adj" fmla="val 5789"/>
            </a:avLst>
          </a:prstGeom>
          <a:solidFill>
            <a:srgbClr val="15170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1900" y="2543175"/>
            <a:ext cx="2667000" cy="266700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0" y="3498503"/>
            <a:ext cx="495300" cy="4953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33400" y="5838825"/>
            <a:ext cx="5486400" cy="3619500"/>
          </a:xfrm>
          <a:prstGeom prst="roundRect">
            <a:avLst>
              <a:gd name="adj" fmla="val 5789"/>
            </a:avLst>
          </a:prstGeom>
          <a:solidFill>
            <a:srgbClr val="3C5E1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>
            <a:alphaModFix amt="6000"/>
          </a:blip>
          <a:stretch>
            <a:fillRect/>
          </a:stretch>
        </p:blipFill>
        <p:spPr>
          <a:xfrm>
            <a:off x="533400" y="5838825"/>
            <a:ext cx="5486400" cy="36195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695450" y="6790134"/>
            <a:ext cx="3162300" cy="1716732"/>
          </a:xfrm>
          <a:prstGeom prst="roundRect">
            <a:avLst>
              <a:gd name="adj" fmla="val 7768"/>
            </a:avLst>
          </a:prstGeom>
          <a:solidFill>
            <a:srgbClr val="FBFAF6"/>
          </a:solidFill>
          <a:ln/>
          <a:effectLst>
            <a:outerShdw sx="100000" sy="100000" kx="0" ky="0" algn="bl" rotWithShape="0" blurRad="571500" dist="285750" dir="5400000">
              <a:srgbClr val="000000">
                <a:alpha val="5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850" y="7228284"/>
            <a:ext cx="2095500" cy="52610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124075" y="7906792"/>
            <a:ext cx="23050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12" kern="0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BOUTIQUE &amp; CARE</a:t>
            </a:r>
            <a:endParaRPr lang="en-US" sz="975" dirty="0"/>
          </a:p>
        </p:txBody>
      </p:sp>
      <p:sp>
        <p:nvSpPr>
          <p:cNvPr id="24" name="Text 16"/>
          <p:cNvSpPr/>
          <p:nvPr/>
        </p:nvSpPr>
        <p:spPr>
          <a:xfrm>
            <a:off x="4818608" y="9153525"/>
            <a:ext cx="10678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Biển hiệu cửa hàng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6172200" y="5838825"/>
            <a:ext cx="5486400" cy="3619500"/>
          </a:xfrm>
          <a:prstGeom prst="roundRect">
            <a:avLst>
              <a:gd name="adj" fmla="val 5789"/>
            </a:avLst>
          </a:prstGeom>
          <a:solidFill>
            <a:srgbClr val="E8E3D6"/>
          </a:solidFill>
          <a:ln/>
        </p:spPr>
      </p:sp>
      <p:sp>
        <p:nvSpPr>
          <p:cNvPr id="26" name="Shape 18"/>
          <p:cNvSpPr/>
          <p:nvPr/>
        </p:nvSpPr>
        <p:spPr>
          <a:xfrm rot="-359998">
            <a:off x="6933052" y="6959922"/>
            <a:ext cx="2190750" cy="1333500"/>
          </a:xfrm>
          <a:prstGeom prst="roundRect">
            <a:avLst>
              <a:gd name="adj" fmla="val 8571"/>
            </a:avLst>
          </a:prstGeom>
          <a:solidFill>
            <a:srgbClr val="76C123"/>
          </a:solidFill>
          <a:ln/>
          <a:effectLst>
            <a:outerShdw sx="100000" sy="100000" kx="0" ky="0" algn="bl" rotWithShape="0" blurRad="285750" dist="171450" dir="5400000">
              <a:srgbClr val="000000">
                <a:alpha val="40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5779" y="7344021"/>
            <a:ext cx="565296" cy="565296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 rot="300000">
            <a:off x="8706647" y="6963561"/>
            <a:ext cx="2190751" cy="1333500"/>
          </a:xfrm>
          <a:prstGeom prst="roundRect">
            <a:avLst>
              <a:gd name="adj" fmla="val 8571"/>
            </a:avLst>
          </a:prstGeom>
          <a:solidFill>
            <a:srgbClr val="FBFAF6"/>
          </a:solidFill>
          <a:ln/>
          <a:effectLst>
            <a:outerShdw sx="100000" sy="100000" kx="0" ky="0" algn="bl" rotWithShape="0" blurRad="285750" dist="17145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9414" y="7097646"/>
            <a:ext cx="930922" cy="30831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879721" y="7674680"/>
            <a:ext cx="1870320" cy="526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5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An </a:t>
            </a:r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555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Pet Stylist hello@doca.pet · doca.pet</a:t>
            </a:r>
            <a:endParaRPr lang="en-US" sz="825" dirty="0"/>
          </a:p>
        </p:txBody>
      </p:sp>
      <p:sp>
        <p:nvSpPr>
          <p:cNvPr id="31" name="Shape 21"/>
          <p:cNvSpPr/>
          <p:nvPr/>
        </p:nvSpPr>
        <p:spPr>
          <a:xfrm>
            <a:off x="533400" y="9610725"/>
            <a:ext cx="11125200" cy="2209800"/>
          </a:xfrm>
          <a:prstGeom prst="roundRect">
            <a:avLst>
              <a:gd name="adj" fmla="val 9483"/>
            </a:avLst>
          </a:prstGeom>
          <a:solidFill>
            <a:srgbClr val="76C123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>
            <a:alphaModFix amt="16000"/>
          </a:blip>
          <a:srcRect l="0" r="0" t="0" b="0"/>
          <a:stretch/>
        </p:blipFill>
        <p:spPr>
          <a:xfrm>
            <a:off x="7653635" y="8726835"/>
            <a:ext cx="3337471" cy="3337471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" y="10257383"/>
            <a:ext cx="1905000" cy="47818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066800" y="10916543"/>
            <a:ext cx="32878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>
                    <a:alpha val="9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Hộp quà &amp; phụ kiện thú cưng</a:t>
            </a:r>
            <a:endParaRPr lang="en-US" sz="1800" dirty="0"/>
          </a:p>
        </p:txBody>
      </p:sp>
      <p:sp>
        <p:nvSpPr>
          <p:cNvPr id="35" name="Shape 23"/>
          <p:cNvSpPr/>
          <p:nvPr/>
        </p:nvSpPr>
        <p:spPr>
          <a:xfrm>
            <a:off x="9163050" y="10144125"/>
            <a:ext cx="914400" cy="1143000"/>
          </a:xfrm>
          <a:prstGeom prst="roundRect">
            <a:avLst>
              <a:gd name="adj" fmla="val 10417"/>
            </a:avLst>
          </a:prstGeom>
          <a:solidFill>
            <a:srgbClr val="FBFAF6"/>
          </a:solidFill>
          <a:ln/>
          <a:effectLst>
            <a:outerShdw sx="100000" sy="100000" kx="0" ky="0" algn="bl" rotWithShape="0" blurRad="285750" dist="1524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1650" y="10487025"/>
            <a:ext cx="457200" cy="457200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10210800" y="10144125"/>
            <a:ext cx="914400" cy="1143000"/>
          </a:xfrm>
          <a:prstGeom prst="roundRect">
            <a:avLst>
              <a:gd name="adj" fmla="val 10417"/>
            </a:avLst>
          </a:prstGeom>
          <a:solidFill>
            <a:srgbClr val="15170F"/>
          </a:solidFill>
          <a:ln/>
          <a:effectLst>
            <a:outerShdw sx="100000" sy="100000" kx="0" ky="0" algn="bl" rotWithShape="0" blurRad="285750" dist="152400" dir="5400000">
              <a:srgbClr val="000000">
                <a:alpha val="35000"/>
              </a:srgbClr>
            </a:outerShdw>
          </a:effectLst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9400" y="10487025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2DCC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66725"/>
            <a:ext cx="113794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93076" y="528638"/>
            <a:ext cx="304207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Guidelines · v1.0 · © 2026 doca.pet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2026-06-28T09:29:30Z</dcterms:created>
  <dcterms:modified xsi:type="dcterms:W3CDTF">2026-06-28T09:29:30Z</dcterms:modified>
</cp:coreProperties>
</file>